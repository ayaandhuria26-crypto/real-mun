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 spc="300">
                <a:solidFill>
                  <a:srgbClr val="CBA94E"/>
                </a:solidFill>
                <a:latin typeface="Segoe UI"/>
              </a:rPr>
              <a:t>REAL  ·  MUN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51560"/>
            <a:ext cx="822960" cy="3810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60350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000" b="1" i="0">
                <a:solidFill>
                  <a:srgbClr val="F5F3ED"/>
                </a:solidFill>
                <a:latin typeface="Georgia"/>
              </a:rPr>
              <a:t>Walk into your next MUN already knowing how it'll feel.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A9A7B4"/>
                </a:solidFill>
                <a:latin typeface="Segoe UI"/>
              </a:rPr>
              <a:t>Built by Ayaan Dhuria   ·   9th Grade   ·   2 years of Model UN   ·   Best Delegate &amp; Honorable Mention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 spc="200">
                <a:solidFill>
                  <a:srgbClr val="CBA94E"/>
                </a:solidFill>
                <a:latin typeface="Segoe UI"/>
              </a:rPr>
              <a:t>YOUTH CODE × AI 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3720" y="1965960"/>
            <a:ext cx="4663440" cy="2926080"/>
          </a:xfrm>
          <a:prstGeom prst="rect">
            <a:avLst/>
          </a:prstGeom>
          <a:solidFill>
            <a:srgbClr val="20212E"/>
          </a:solidFill>
          <a:ln w="15875">
            <a:solidFill>
              <a:srgbClr val="CB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spc="200">
                <a:solidFill>
                  <a:srgbClr val="CBA94E"/>
                </a:solidFill>
                <a:latin typeface="Segoe UI"/>
              </a:rPr>
              <a:t>INSERT PHOTO  (landscape)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F5F3ED"/>
                </a:solidFill>
                <a:latin typeface="Segoe UI"/>
              </a:rPr>
              <a:t>Real-MUN homepage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24CD92-2DCC-E2F1-C067-0B43D583B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965960"/>
            <a:ext cx="466344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874519"/>
            <a:ext cx="4160520" cy="2743200"/>
          </a:xfrm>
          <a:prstGeom prst="rect">
            <a:avLst/>
          </a:prstGeom>
          <a:solidFill>
            <a:srgbClr val="20212E"/>
          </a:solidFill>
          <a:ln w="15875">
            <a:solidFill>
              <a:srgbClr val="CB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spc="200">
                <a:solidFill>
                  <a:srgbClr val="CBA94E"/>
                </a:solidFill>
                <a:latin typeface="Segoe UI"/>
              </a:rPr>
              <a:t>INSERT PHOTO  (landscape)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F5F3ED"/>
                </a:solidFill>
                <a:latin typeface="Segoe UI"/>
              </a:rPr>
              <a:t>a real MUN committee in session
(delegates at a conference)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892040" y="640080"/>
            <a:ext cx="822960" cy="3810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92040" y="868680"/>
            <a:ext cx="6675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2800" b="1" i="0">
                <a:solidFill>
                  <a:srgbClr val="F5F3ED"/>
                </a:solidFill>
                <a:latin typeface="Georgia"/>
              </a:rPr>
              <a:t>Most delegates walk in unprepared — and it's not their fault.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92040" y="2331720"/>
            <a:ext cx="38100" cy="77724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56632" y="2295144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 i="0">
                <a:solidFill>
                  <a:srgbClr val="F5F3ED"/>
                </a:solidFill>
                <a:latin typeface="Georgia"/>
              </a:rPr>
              <a:t>No realistic practice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 i="0">
                <a:solidFill>
                  <a:srgbClr val="A9A7B4"/>
                </a:solidFill>
                <a:latin typeface="Segoe UI"/>
              </a:rPr>
              <a:t>There's no way to rehearse a committee before the real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3291840"/>
            <a:ext cx="38100" cy="77724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56632" y="3255264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 i="0">
                <a:solidFill>
                  <a:srgbClr val="F5F3ED"/>
                </a:solidFill>
                <a:latin typeface="Georgia"/>
              </a:rPr>
              <a:t>Feedback comes too late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 i="0">
                <a:solidFill>
                  <a:srgbClr val="A9A7B4"/>
                </a:solidFill>
                <a:latin typeface="Segoe UI"/>
              </a:rPr>
              <a:t>Dais feedback only arrives after the conference is already over.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4251960"/>
            <a:ext cx="38100" cy="77724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6632" y="4215384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 i="0">
                <a:solidFill>
                  <a:srgbClr val="F5F3ED"/>
                </a:solidFill>
                <a:latin typeface="Georgia"/>
              </a:rPr>
              <a:t>Coaching is a privilege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 i="0">
                <a:solidFill>
                  <a:srgbClr val="A9A7B4"/>
                </a:solidFill>
                <a:latin typeface="Segoe UI"/>
              </a:rPr>
              <a:t>Good MUN coaching is expensive and locked behind elite schools.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5349240"/>
            <a:ext cx="6675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1">
                <a:solidFill>
                  <a:srgbClr val="CBA94E"/>
                </a:solidFill>
                <a:latin typeface="Georgia"/>
              </a:rPr>
              <a:t>“It was my third conference, and I looked around at delegates sitting in complete silence — not because they had nothing to say, but because no one had ever shown them how. It took me right back to my own first committee, when I was the quiet one too. That's when I knew I could build something to help people understand Model UN before they ever walk into the room.”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1872C2-DFCA-E86B-033A-B41263472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82654"/>
            <a:ext cx="4160520" cy="27350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40880" y="1965960"/>
            <a:ext cx="4572000" cy="2880360"/>
          </a:xfrm>
          <a:prstGeom prst="rect">
            <a:avLst/>
          </a:prstGeom>
          <a:solidFill>
            <a:srgbClr val="20212E"/>
          </a:solidFill>
          <a:ln w="15875">
            <a:solidFill>
              <a:srgbClr val="CB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spc="200">
                <a:solidFill>
                  <a:srgbClr val="CBA94E"/>
                </a:solidFill>
                <a:latin typeface="Segoe UI"/>
              </a:rPr>
              <a:t>INSERT PHOTO  (landscape)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F5F3ED"/>
                </a:solidFill>
                <a:latin typeface="Segoe UI"/>
              </a:rPr>
              <a:t>Ayaan delivering a speech
at a real conference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 spc="300">
                <a:solidFill>
                  <a:srgbClr val="CBA94E"/>
                </a:solidFill>
                <a:latin typeface="Segoe UI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80160"/>
            <a:ext cx="822960" cy="3810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60350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3500" b="1" i="0">
                <a:solidFill>
                  <a:srgbClr val="F5F3ED"/>
                </a:solidFill>
                <a:latin typeface="Georgia"/>
              </a:rPr>
              <a:t>Real-MUN lets you rehearse the whole experience — with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43400"/>
            <a:ext cx="5852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0" i="0">
                <a:solidFill>
                  <a:srgbClr val="A9A7B4"/>
                </a:solidFill>
                <a:latin typeface="Segoe UI"/>
              </a:rPr>
              <a:t>A free platform where any student can practice unlimited mock committees and get instant, expert-level feedback — as many times as they need.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B1BC93-42BB-A0A6-AF3F-469B5684B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969352"/>
            <a:ext cx="4561626" cy="28769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 spc="300">
                <a:solidFill>
                  <a:srgbClr val="CBA94E"/>
                </a:solidFill>
                <a:latin typeface="Segoe UI"/>
              </a:rPr>
              <a:t>WHAT IT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960120"/>
            <a:ext cx="822960" cy="3810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5F3ED"/>
                </a:solidFill>
                <a:latin typeface="Georgia"/>
              </a:rPr>
              <a:t>Everything you need to be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38100" cy="137160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F5F3ED"/>
                </a:solidFill>
                <a:latin typeface="Georgia"/>
              </a:rPr>
              <a:t>Mock Conference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 i="0">
                <a:solidFill>
                  <a:srgbClr val="A9A7B4"/>
                </a:solidFill>
                <a:latin typeface="Segoe UI"/>
              </a:rPr>
              <a:t>A full 30-minute committee with an AI Chair and three AI delegates you speak to out loud.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2331720"/>
            <a:ext cx="38100" cy="137160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51960" y="233172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F5F3ED"/>
                </a:solidFill>
                <a:latin typeface="Georgia"/>
              </a:rPr>
              <a:t>Position Paper Feedback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 i="0">
                <a:solidFill>
                  <a:srgbClr val="A9A7B4"/>
                </a:solidFill>
                <a:latin typeface="Segoe UI"/>
              </a:rPr>
              <a:t>AI scores your paper across five dimensions in under 60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297680"/>
            <a:ext cx="38100" cy="137160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F5F3ED"/>
                </a:solidFill>
                <a:latin typeface="Georgia"/>
              </a:rPr>
              <a:t>Speech &amp; Session Feedback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 i="0">
                <a:solidFill>
                  <a:srgbClr val="A9A7B4"/>
                </a:solidFill>
                <a:latin typeface="Segoe UI"/>
              </a:rPr>
              <a:t>Judged like a real Dais — with specific, line-by-line rewrites.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4297680"/>
            <a:ext cx="38100" cy="137160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429768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F5F3ED"/>
                </a:solidFill>
                <a:latin typeface="Georgia"/>
              </a:rPr>
              <a:t>Learn the Basics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 i="0">
                <a:solidFill>
                  <a:srgbClr val="A9A7B4"/>
                </a:solidFill>
                <a:latin typeface="Segoe UI"/>
              </a:rPr>
              <a:t>Procedure, vocabulary, and fundamentals for first-timers.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2651760"/>
            <a:ext cx="4023360" cy="2651760"/>
          </a:xfrm>
          <a:prstGeom prst="rect">
            <a:avLst/>
          </a:prstGeom>
          <a:solidFill>
            <a:srgbClr val="20212E"/>
          </a:solidFill>
          <a:ln w="15875">
            <a:solidFill>
              <a:srgbClr val="CB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spc="200">
                <a:solidFill>
                  <a:srgbClr val="CBA94E"/>
                </a:solidFill>
                <a:latin typeface="Segoe UI"/>
              </a:rPr>
              <a:t>INSERT PHOTO  (landscape)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F5F3ED"/>
                </a:solidFill>
                <a:latin typeface="Segoe UI"/>
              </a:rPr>
              <a:t>position paper grading
in Real-MUN (screenshot)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B72D0A6-5E18-926D-8AB2-D8E751838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651760"/>
            <a:ext cx="4023360" cy="26517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3152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800" b="1" i="0">
                <a:solidFill>
                  <a:srgbClr val="CBA94E"/>
                </a:solidFill>
                <a:latin typeface="Georgia"/>
              </a:rPr>
              <a:t>See it in action.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783080"/>
            <a:ext cx="12191695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200" b="1" dirty="0" u="none">
                <a:solidFill>
                  <a:srgbClr val="CBA94E"/>
                </a:solidFill>
                <a:latin typeface="Segoe UI"/>
              </a:rPr>
              <a:t>real-mun.vercel.app</a:t>
            </a:r>
            <a:r>
              <a:rPr lang="en-US" sz="2200" b="1" dirty="0">
                <a:solidFill>
                  <a:srgbClr val="F5F3ED"/>
                </a:solidFill>
                <a:latin typeface="Segoe UI"/>
              </a:rPr>
              <a:t> </a:t>
            </a:r>
            <a:endParaRPr sz="2200" b="1" i="0" dirty="0">
              <a:solidFill>
                <a:srgbClr val="F5F3ED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A9A7B4"/>
                </a:solidFill>
                <a:latin typeface="Segoe UI"/>
              </a:rPr>
              <a:t>A full mock committee — 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807208" y="2880360"/>
            <a:ext cx="6583680" cy="3703320"/>
          </a:xfrm>
          <a:prstGeom prst="rect">
            <a:avLst/>
          </a:prstGeom>
          <a:solidFill>
            <a:srgbClr val="20212E"/>
          </a:solidFill>
          <a:ln w="15875">
            <a:solidFill>
              <a:srgbClr val="CB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spc="200">
                <a:solidFill>
                  <a:srgbClr val="CBA94E"/>
                </a:solidFill>
                <a:latin typeface="Segoe UI"/>
              </a:rPr>
              <a:t>INSERT PHOTO  (landscape)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F5F3ED"/>
                </a:solidFill>
                <a:latin typeface="Segoe UI"/>
              </a:rPr>
              <a:t>Real-MUN live mock conference
(AI Chair + delegates mid-debate)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BE1633-3B23-352C-0021-927F6C46A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9" y="2880360"/>
            <a:ext cx="65836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69480" y="2331720"/>
            <a:ext cx="4297680" cy="2697480"/>
          </a:xfrm>
          <a:prstGeom prst="rect">
            <a:avLst/>
          </a:prstGeom>
          <a:solidFill>
            <a:srgbClr val="20212E"/>
          </a:solidFill>
          <a:ln w="15875">
            <a:solidFill>
              <a:srgbClr val="CB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spc="200">
                <a:solidFill>
                  <a:srgbClr val="CBA94E"/>
                </a:solidFill>
                <a:latin typeface="Segoe UI"/>
              </a:rPr>
              <a:t>INSERT PHOTO  (landscape)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F5F3ED"/>
                </a:solidFill>
                <a:latin typeface="Segoe UI"/>
              </a:rPr>
              <a:t>Real-MUN conference screen
(or your code in the editor)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 spc="300">
                <a:solidFill>
                  <a:srgbClr val="CBA94E"/>
                </a:solidFill>
                <a:latin typeface="Segoe U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51560"/>
            <a:ext cx="822960" cy="3810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309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800" b="1" i="0">
                <a:solidFill>
                  <a:srgbClr val="F5F3ED"/>
                </a:solidFill>
                <a:latin typeface="Georgia"/>
              </a:rPr>
              <a:t>Real procedure. Real foreign policy. Real feedback.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788920"/>
            <a:ext cx="38100" cy="73152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752344"/>
            <a:ext cx="5852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 i="0">
                <a:solidFill>
                  <a:srgbClr val="F5F3ED"/>
                </a:solidFill>
                <a:latin typeface="Georgia"/>
              </a:rPr>
              <a:t>Deterministic procedure engine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 i="0">
                <a:solidFill>
                  <a:srgbClr val="A9A7B4"/>
                </a:solidFill>
                <a:latin typeface="Segoe UI"/>
              </a:rPr>
              <a:t>Authentic MUN parliamentary flow runs the same way every session.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703320"/>
            <a:ext cx="38100" cy="73152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666744"/>
            <a:ext cx="5852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 i="0">
                <a:solidFill>
                  <a:srgbClr val="F5F3ED"/>
                </a:solidFill>
                <a:latin typeface="Georgia"/>
              </a:rPr>
              <a:t>Country-accurate AI delegates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 i="0">
                <a:solidFill>
                  <a:srgbClr val="A9A7B4"/>
                </a:solidFill>
                <a:latin typeface="Segoe UI"/>
              </a:rPr>
              <a:t>Each delegate argues from its nation's real foreign policy and persona.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617720"/>
            <a:ext cx="38100" cy="73152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4581144"/>
            <a:ext cx="5852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 i="0">
                <a:solidFill>
                  <a:srgbClr val="F5F3ED"/>
                </a:solidFill>
                <a:latin typeface="Georgia"/>
              </a:rPr>
              <a:t>Full voice interface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 i="0">
                <a:solidFill>
                  <a:srgbClr val="A9A7B4"/>
                </a:solidFill>
                <a:latin typeface="Segoe UI"/>
              </a:rPr>
              <a:t>Speak your speech out loud — and hear the whole committee respond.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623560"/>
            <a:ext cx="630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1">
                <a:solidFill>
                  <a:srgbClr val="CBA94E"/>
                </a:solidFill>
                <a:latin typeface="Segoe UI"/>
              </a:rPr>
              <a:t>Built with Next.js · React · TypeScript · large-language models with automatic multi-provider failover · deployed on Vercel.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CD1303-8203-F336-48DE-B6C1041F5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331720"/>
            <a:ext cx="4295424" cy="26974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80960" y="2377440"/>
            <a:ext cx="4023360" cy="2514600"/>
          </a:xfrm>
          <a:prstGeom prst="rect">
            <a:avLst/>
          </a:prstGeom>
          <a:solidFill>
            <a:srgbClr val="20212E"/>
          </a:solidFill>
          <a:ln w="15875">
            <a:solidFill>
              <a:srgbClr val="CB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400" dirty="0">
              <a:solidFill>
                <a:srgbClr val="F5F3ED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 spc="300">
                <a:solidFill>
                  <a:srgbClr val="CBA94E"/>
                </a:solidFill>
                <a:latin typeface="Segoe UI"/>
              </a:rPr>
              <a:t>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51560"/>
            <a:ext cx="822960" cy="3810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583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3200" b="1" i="0">
                <a:solidFill>
                  <a:srgbClr val="F5F3ED"/>
                </a:solidFill>
                <a:latin typeface="Georgia"/>
              </a:rPr>
              <a:t>Practice shouldn't be a privilege.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800" b="1" i="0">
                <a:solidFill>
                  <a:srgbClr val="CBA94E"/>
                </a:solidFill>
                <a:latin typeface="Georgia"/>
              </a:rPr>
              <a:t>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F5F3ED"/>
                </a:solidFill>
                <a:latin typeface="Georgia"/>
              </a:rPr>
              <a:t>Cost to students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A9A7B4"/>
                </a:solidFill>
                <a:latin typeface="Segoe UI"/>
              </a:rPr>
              <a:t>Free and unlimited — no barrier.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7432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800" b="1" i="0">
                <a:solidFill>
                  <a:srgbClr val="CBA94E"/>
                </a:solidFill>
                <a:latin typeface="Georgia"/>
              </a:rPr>
              <a:t>10+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384048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F5F3ED"/>
                </a:solidFill>
                <a:latin typeface="Georgia"/>
              </a:rPr>
              <a:t>Delegates already tested it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A9A7B4"/>
                </a:solidFill>
                <a:latin typeface="Segoe UI"/>
              </a:rPr>
              <a:t>Validated by real MUN participants.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F5F3ED"/>
                </a:solidFill>
                <a:latin typeface="Segoe UI"/>
              </a:rPr>
              <a:t>For students at schools with no MUN program, no coach, and no budget.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E16D89-F4B5-C575-5F10-541FA1DE8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0091522" y="2227678"/>
            <a:ext cx="1406504" cy="1819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C401AF-84DB-8F9F-6594-7732E29E1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051572" y="2006829"/>
            <a:ext cx="1463040" cy="22042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5E44B4-AE22-2048-83A2-2DB96BC2E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1" y="3840479"/>
            <a:ext cx="2204264" cy="10751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76BC422-8271-6395-7F33-E79F1E912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225" y="4090914"/>
            <a:ext cx="1819095" cy="50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40880" y="1965960"/>
            <a:ext cx="4572000" cy="2880360"/>
          </a:xfrm>
          <a:prstGeom prst="rect">
            <a:avLst/>
          </a:prstGeom>
          <a:solidFill>
            <a:srgbClr val="20212E"/>
          </a:solidFill>
          <a:ln w="15875">
            <a:solidFill>
              <a:srgbClr val="CBA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spc="200">
                <a:solidFill>
                  <a:srgbClr val="CBA94E"/>
                </a:solidFill>
                <a:latin typeface="Segoe UI"/>
              </a:rPr>
              <a:t>INSERT PHOTO  (landscape)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F5F3ED"/>
                </a:solidFill>
                <a:latin typeface="Segoe UI"/>
              </a:rPr>
              <a:t>Real-MUN homepage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920240"/>
            <a:ext cx="822960" cy="38100"/>
          </a:xfrm>
          <a:prstGeom prst="rect">
            <a:avLst/>
          </a:prstGeom>
          <a:solidFill>
            <a:srgbClr val="CBA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6217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600" b="1" i="0">
                <a:solidFill>
                  <a:srgbClr val="F5F3ED"/>
                </a:solidFill>
                <a:latin typeface="Georgia"/>
              </a:rPr>
              <a:t>Walk in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F5F3ED"/>
                </a:solidFill>
                <a:latin typeface="Segoe UI"/>
              </a:rPr>
              <a:t>Real-MUN</a:t>
            </a:r>
            <a:r>
              <a:rPr sz="1600" b="0" i="0">
                <a:solidFill>
                  <a:srgbClr val="A9A7B4"/>
                </a:solidFill>
                <a:latin typeface="Segoe UI"/>
              </a:rPr>
              <a:t>  —  by Ayaan Dhuria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i="0">
                <a:solidFill>
                  <a:srgbClr val="A9A7B4"/>
                </a:solidFill>
                <a:latin typeface="Segoe UI"/>
              </a:rPr>
              <a:t>Thank you for listening.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12064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CBA94E"/>
                </a:solidFill>
                <a:latin typeface="Segoe UI"/>
              </a:rPr>
              <a:t>real-mun.vercel.app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E876E7-D21C-3DFE-B9BA-A4F76D3AD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958340"/>
            <a:ext cx="4572000" cy="2887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543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Ayaan Dhuria (hcps-dhuriaa)</cp:lastModifiedBy>
  <cp:revision>3</cp:revision>
  <dcterms:created xsi:type="dcterms:W3CDTF">2013-01-27T09:14:16Z</dcterms:created>
  <dcterms:modified xsi:type="dcterms:W3CDTF">2026-06-27T22:37:01Z</dcterms:modified>
  <cp:category/>
</cp:coreProperties>
</file>